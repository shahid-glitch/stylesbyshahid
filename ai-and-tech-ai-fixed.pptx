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1543050"/>
          </a:xfrm>
          <a:prstGeom prst="rect">
            <a:avLst/>
          </a:prstGeom>
          <a:solidFill>
            <a:srgbClr val="1F4E78"/>
          </a:solidFill>
          <a:ln/>
        </p:spPr>
      </p:sp>
      <p:sp>
        <p:nvSpPr>
          <p:cNvPr id="3" name="Text 1"/>
          <p:cNvSpPr/>
          <p:nvPr/>
        </p:nvSpPr>
        <p:spPr>
          <a:xfrm>
            <a:off x="457200" y="1828800"/>
            <a:ext cx="8229600" cy="137160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AI and Tech Advancements</a:t>
            </a:r>
            <a:endParaRPr lang="en-US" sz="4800" dirty="0"/>
          </a:p>
        </p:txBody>
      </p:sp>
      <p:sp>
        <p:nvSpPr>
          <p:cNvPr id="4" name="Text 2"/>
          <p:cNvSpPr/>
          <p:nvPr/>
        </p:nvSpPr>
        <p:spPr>
          <a:xfrm>
            <a:off x="457200" y="4114800"/>
            <a:ext cx="8229600" cy="731520"/>
          </a:xfrm>
          <a:prstGeom prst="rect">
            <a:avLst/>
          </a:prstGeom>
          <a:noFill/>
          <a:ln/>
        </p:spPr>
        <p:txBody>
          <a:bodyPr wrap="square" rtlCol="0" anchor="ctr"/>
          <a:lstStyle/>
          <a:p>
            <a:pPr algn="ctr" indent="0" marL="0">
              <a:buNone/>
            </a:pPr>
            <a:r>
              <a:rPr lang="en-US" sz="2000" dirty="0">
                <a:solidFill>
                  <a:srgbClr val="4472C4"/>
                </a:solidFill>
                <a:latin typeface="Arial" pitchFamily="34" charset="0"/>
                <a:ea typeface="Arial" pitchFamily="34" charset="-122"/>
                <a:cs typeface="Arial" pitchFamily="34" charset="-120"/>
              </a:rPr>
              <a:t>StylesByShahid - AI Presentation Maker</a:t>
            </a:r>
            <a:endParaRPr lang="en-US" sz="2000" dirty="0"/>
          </a:p>
        </p:txBody>
      </p:sp>
      <p:sp>
        <p:nvSpPr>
          <p:cNvPr id="5" name="Text 3"/>
          <p:cNvSpPr/>
          <p:nvPr/>
        </p:nvSpPr>
        <p:spPr>
          <a:xfrm>
            <a:off x="457200" y="5943600"/>
            <a:ext cx="8229600" cy="457200"/>
          </a:xfrm>
          <a:prstGeom prst="rect">
            <a:avLst/>
          </a:prstGeom>
          <a:noFill/>
          <a:ln/>
        </p:spPr>
        <p:txBody>
          <a:bodyPr wrap="square" rtlCol="0" anchor="ctr"/>
          <a:lstStyle/>
          <a:p>
            <a:pPr algn="ctr" indent="0" marL="0">
              <a:buNone/>
            </a:pPr>
            <a:r>
              <a:rPr lang="en-US" sz="1200" dirty="0">
                <a:solidFill>
                  <a:srgbClr val="333333"/>
                </a:solidFill>
                <a:latin typeface="Arial" pitchFamily="34" charset="0"/>
                <a:ea typeface="Arial" pitchFamily="34" charset="-122"/>
                <a:cs typeface="Arial" pitchFamily="34" charset="-120"/>
              </a:rPr>
              <a:t>3/22/2026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1F4E78"/>
          </a:solidFill>
          <a:ln/>
        </p:spPr>
      </p:sp>
      <p:sp>
        <p:nvSpPr>
          <p:cNvPr id="3" name="Shape 1"/>
          <p:cNvSpPr/>
          <p:nvPr/>
        </p:nvSpPr>
        <p:spPr>
          <a:xfrm>
            <a:off x="274320" y="320040"/>
            <a:ext cx="548640" cy="548640"/>
          </a:xfrm>
          <a:prstGeom prst="rect">
            <a:avLst/>
          </a:prstGeom>
          <a:solidFill>
            <a:srgbClr val="4472C4"/>
          </a:solidFill>
          <a:ln/>
        </p:spPr>
      </p:sp>
      <p:sp>
        <p:nvSpPr>
          <p:cNvPr id="4" name="Text 2"/>
          <p:cNvSpPr/>
          <p:nvPr/>
        </p:nvSpPr>
        <p:spPr>
          <a:xfrm>
            <a:off x="274320" y="320040"/>
            <a:ext cx="548640" cy="54864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5" name="Text 3"/>
          <p:cNvSpPr/>
          <p:nvPr/>
        </p:nvSpPr>
        <p:spPr>
          <a:xfrm>
            <a:off x="1005840" y="365760"/>
            <a:ext cx="4572000" cy="640080"/>
          </a:xfrm>
          <a:prstGeom prst="rect">
            <a:avLst/>
          </a:prstGeom>
          <a:noFill/>
          <a:ln/>
        </p:spPr>
        <p:txBody>
          <a:bodyPr wrap="square" rtlCol="0" anchor="ctr"/>
          <a:lstStyle/>
          <a:p>
            <a:pPr indent="0" marL="0">
              <a:buNone/>
            </a:pPr>
            <a:r>
              <a:rPr lang="en-US" sz="3200" b="1" dirty="0">
                <a:solidFill>
                  <a:srgbClr val="1F4E78"/>
                </a:solidFill>
                <a:latin typeface="Arial" pitchFamily="34" charset="0"/>
                <a:ea typeface="Arial" pitchFamily="34" charset="-122"/>
                <a:cs typeface="Arial" pitchFamily="34" charset="-120"/>
              </a:rPr>
              <a:t>AI Adoption Trends</a:t>
            </a:r>
            <a:endParaRPr lang="en-US" sz="3200" dirty="0"/>
          </a:p>
        </p:txBody>
      </p:sp>
      <p:sp>
        <p:nvSpPr>
          <p:cNvPr id="6" name="Text 4"/>
          <p:cNvSpPr/>
          <p:nvPr/>
        </p:nvSpPr>
        <p:spPr>
          <a:xfrm>
            <a:off x="1005840" y="914400"/>
            <a:ext cx="4572000" cy="365760"/>
          </a:xfrm>
          <a:prstGeom prst="rect">
            <a:avLst/>
          </a:prstGeom>
          <a:noFill/>
          <a:ln/>
        </p:spPr>
        <p:txBody>
          <a:bodyPr wrap="square" rtlCol="0" anchor="ctr"/>
          <a:lstStyle/>
          <a:p>
            <a:pPr indent="0" marL="0">
              <a:buNone/>
            </a:pPr>
            <a:r>
              <a:rPr lang="en-US" sz="1600" i="1" dirty="0">
                <a:solidFill>
                  <a:srgbClr val="4472C4"/>
                </a:solidFill>
                <a:latin typeface="Arial" pitchFamily="34" charset="0"/>
                <a:ea typeface="Arial" pitchFamily="34" charset="-122"/>
                <a:cs typeface="Arial" pitchFamily="34" charset="-120"/>
              </a:rPr>
              <a:t>Industry Insights and Growth</a:t>
            </a:r>
            <a:endParaRPr lang="en-US" sz="1600" dirty="0"/>
          </a:p>
        </p:txBody>
      </p:sp>
      <p:sp>
        <p:nvSpPr>
          <p:cNvPr id="7" name="Shape 5"/>
          <p:cNvSpPr/>
          <p:nvPr/>
        </p:nvSpPr>
        <p:spPr>
          <a:xfrm>
            <a:off x="5989320" y="1417320"/>
            <a:ext cx="2743200" cy="2286000"/>
          </a:xfrm>
          <a:prstGeom prst="rect">
            <a:avLst/>
          </a:prstGeom>
          <a:solidFill>
            <a:srgbClr val="CCCCCC"/>
          </a:solidFill>
          <a:ln/>
        </p:spPr>
      </p:sp>
      <p:sp>
        <p:nvSpPr>
          <p:cNvPr id="8" name="Shape 6"/>
          <p:cNvSpPr/>
          <p:nvPr/>
        </p:nvSpPr>
        <p:spPr>
          <a:xfrm>
            <a:off x="5943600" y="1371600"/>
            <a:ext cx="2743200" cy="2286000"/>
          </a:xfrm>
          <a:prstGeom prst="rect">
            <a:avLst/>
          </a:prstGeom>
          <a:solidFill>
            <a:srgbClr val="F8F8F8"/>
          </a:solidFill>
          <a:ln w="25400">
            <a:solidFill>
              <a:srgbClr val="4472C4"/>
            </a:solidFill>
            <a:prstDash val="solid"/>
          </a:ln>
        </p:spPr>
      </p:sp>
      <p:sp>
        <p:nvSpPr>
          <p:cNvPr id="9" name="Text 7"/>
          <p:cNvSpPr/>
          <p:nvPr/>
        </p:nvSpPr>
        <p:spPr>
          <a:xfrm>
            <a:off x="5943600" y="2103120"/>
            <a:ext cx="2743200" cy="914400"/>
          </a:xfrm>
          <a:prstGeom prst="rect">
            <a:avLst/>
          </a:prstGeom>
          <a:noFill/>
          <a:ln/>
        </p:spPr>
        <p:txBody>
          <a:bodyPr wrap="square" rtlCol="0" anchor="ctr"/>
          <a:lstStyle/>
          <a:p>
            <a:pPr algn="ctr" indent="0" marL="0">
              <a:buNone/>
            </a:pPr>
            <a:r>
              <a:rPr lang="en-US" sz="1400" dirty="0">
                <a:solidFill>
                  <a:srgbClr val="999999"/>
                </a:solidFill>
                <a:latin typeface="Arial" pitchFamily="34" charset="0"/>
                <a:ea typeface="Arial" pitchFamily="34" charset="-122"/>
                <a:cs typeface="Arial" pitchFamily="34" charset="-120"/>
              </a:rPr>
              <a:t>🖼️</a:t>
            </a:r>
            <a:endParaRPr lang="en-US" sz="1400" dirty="0"/>
          </a:p>
          <a:p>
            <a:pPr algn="ctr" indent="0" marL="0">
              <a:buNone/>
            </a:pPr>
            <a:endParaRPr lang="en-US" sz="1400" dirty="0"/>
          </a:p>
          <a:p>
            <a:pPr algn="ctr" indent="0" marL="0">
              <a:buNone/>
            </a:pPr>
            <a:r>
              <a:rPr lang="en-US" sz="1400" dirty="0">
                <a:solidFill>
                  <a:srgbClr val="999999"/>
                </a:solidFill>
                <a:latin typeface="Arial" pitchFamily="34" charset="0"/>
                <a:ea typeface="Arial" pitchFamily="34" charset="-122"/>
                <a:cs typeface="Arial" pitchFamily="34" charset="-120"/>
              </a:rPr>
              <a:t>Image Placeholder</a:t>
            </a:r>
            <a:endParaRPr lang="en-US" sz="1400" dirty="0"/>
          </a:p>
        </p:txBody>
      </p:sp>
      <p:sp>
        <p:nvSpPr>
          <p:cNvPr id="10" name="Text 8"/>
          <p:cNvSpPr/>
          <p:nvPr/>
        </p:nvSpPr>
        <p:spPr>
          <a:xfrm>
            <a:off x="5943600" y="3749040"/>
            <a:ext cx="2743200" cy="274320"/>
          </a:xfrm>
          <a:prstGeom prst="rect">
            <a:avLst/>
          </a:prstGeom>
          <a:noFill/>
          <a:ln/>
        </p:spPr>
        <p:txBody>
          <a:bodyPr wrap="square" rtlCol="0" anchor="ctr"/>
          <a:lstStyle/>
          <a:p>
            <a:pPr algn="ctr" indent="0" marL="0">
              <a:buNone/>
            </a:pPr>
            <a:r>
              <a:rPr lang="en-US" sz="900" i="1" dirty="0">
                <a:solidFill>
                  <a:srgbClr val="888888"/>
                </a:solidFill>
                <a:latin typeface="Arial" pitchFamily="34" charset="0"/>
                <a:ea typeface="Arial" pitchFamily="34" charset="-122"/>
                <a:cs typeface="Arial" pitchFamily="34" charset="-120"/>
              </a:rPr>
              <a:t>Suggest: chart showing industry growth</a:t>
            </a:r>
            <a:endParaRPr lang="en-US" sz="900" dirty="0"/>
          </a:p>
        </p:txBody>
      </p:sp>
      <p:sp>
        <p:nvSpPr>
          <p:cNvPr id="11" name="Text 9"/>
          <p:cNvSpPr/>
          <p:nvPr/>
        </p:nvSpPr>
        <p:spPr>
          <a:xfrm>
            <a:off x="457200" y="1463040"/>
            <a:ext cx="5029200" cy="1097280"/>
          </a:xfrm>
          <a:prstGeom prst="rect">
            <a:avLst/>
          </a:prstGeom>
          <a:noFill/>
          <a:ln/>
        </p:spPr>
        <p:txBody>
          <a:bodyPr wrap="square" rtlCol="0" anchor="t"/>
          <a:lstStyle/>
          <a:p>
            <a:pPr algn="l" indent="0" marL="0">
              <a:buNone/>
            </a:pPr>
            <a:r>
              <a:rPr lang="en-US" sz="1300" dirty="0">
                <a:solidFill>
                  <a:srgbClr val="333333"/>
                </a:solidFill>
                <a:latin typeface="Arial" pitchFamily="34" charset="0"/>
                <a:ea typeface="Arial" pitchFamily="34" charset="-122"/>
                <a:cs typeface="Arial" pitchFamily="34" charset="-120"/>
              </a:rPr>
              <a:t>AI adoption is on the rise, driven by advancements in machine learning and natural language processing. Businesses are leveraging AI to streamline operations and enhance customer experiences. As a result, the demand for AI-powered solutions is increasing rapidly.</a:t>
            </a:r>
            <a:endParaRPr lang="en-US" sz="1300" dirty="0"/>
          </a:p>
        </p:txBody>
      </p:sp>
      <p:sp>
        <p:nvSpPr>
          <p:cNvPr id="12" name="Text 10"/>
          <p:cNvSpPr/>
          <p:nvPr/>
        </p:nvSpPr>
        <p:spPr>
          <a:xfrm>
            <a:off x="457200" y="2651760"/>
            <a:ext cx="5029200" cy="365760"/>
          </a:xfrm>
          <a:prstGeom prst="rect">
            <a:avLst/>
          </a:prstGeom>
          <a:noFill/>
          <a:ln/>
        </p:spPr>
        <p:txBody>
          <a:bodyPr wrap="square" rtlCol="0" anchor="ctr"/>
          <a:lstStyle/>
          <a:p>
            <a:pPr indent="0" marL="0">
              <a:buNone/>
            </a:pPr>
            <a:r>
              <a:rPr lang="en-US" sz="1600" b="1" dirty="0">
                <a:solidFill>
                  <a:srgbClr val="1F4E78"/>
                </a:solidFill>
                <a:latin typeface="Arial" pitchFamily="34" charset="0"/>
                <a:ea typeface="Arial" pitchFamily="34" charset="-122"/>
                <a:cs typeface="Arial" pitchFamily="34" charset="-120"/>
              </a:rPr>
              <a:t>Key Points:</a:t>
            </a:r>
            <a:endParaRPr lang="en-US" sz="1600" dirty="0"/>
          </a:p>
        </p:txBody>
      </p:sp>
      <p:sp>
        <p:nvSpPr>
          <p:cNvPr id="13" name="Text 11"/>
          <p:cNvSpPr/>
          <p:nvPr/>
        </p:nvSpPr>
        <p:spPr>
          <a:xfrm>
            <a:off x="640080" y="3108960"/>
            <a:ext cx="274320" cy="457200"/>
          </a:xfrm>
          <a:prstGeom prst="rect">
            <a:avLst/>
          </a:prstGeom>
          <a:noFill/>
          <a:ln/>
        </p:spPr>
        <p:txBody>
          <a:bodyPr wrap="square" rtlCol="0" anchor="ctr"/>
          <a:lstStyle/>
          <a:p>
            <a:pPr indent="0" marL="0">
              <a:buNone/>
            </a:pPr>
            <a:r>
              <a:rPr lang="en-US" sz="1600" b="1" dirty="0">
                <a:solidFill>
                  <a:srgbClr val="4472C4"/>
                </a:solidFill>
                <a:latin typeface="Arial" pitchFamily="34" charset="0"/>
                <a:ea typeface="Arial" pitchFamily="34" charset="-122"/>
                <a:cs typeface="Arial" pitchFamily="34" charset="-120"/>
              </a:rPr>
              <a:t>▸</a:t>
            </a:r>
            <a:endParaRPr lang="en-US" sz="1600" dirty="0"/>
          </a:p>
        </p:txBody>
      </p:sp>
      <p:sp>
        <p:nvSpPr>
          <p:cNvPr id="14" name="Text 12"/>
          <p:cNvSpPr/>
          <p:nvPr/>
        </p:nvSpPr>
        <p:spPr>
          <a:xfrm>
            <a:off x="1005840" y="3108960"/>
            <a:ext cx="4572000" cy="45720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AI in business</a:t>
            </a:r>
            <a:endParaRPr lang="en-US" sz="1400" dirty="0"/>
          </a:p>
        </p:txBody>
      </p:sp>
      <p:sp>
        <p:nvSpPr>
          <p:cNvPr id="15" name="Text 13"/>
          <p:cNvSpPr/>
          <p:nvPr/>
        </p:nvSpPr>
        <p:spPr>
          <a:xfrm>
            <a:off x="640080" y="3657600"/>
            <a:ext cx="274320" cy="457200"/>
          </a:xfrm>
          <a:prstGeom prst="rect">
            <a:avLst/>
          </a:prstGeom>
          <a:noFill/>
          <a:ln/>
        </p:spPr>
        <p:txBody>
          <a:bodyPr wrap="square" rtlCol="0" anchor="ctr"/>
          <a:lstStyle/>
          <a:p>
            <a:pPr indent="0" marL="0">
              <a:buNone/>
            </a:pPr>
            <a:r>
              <a:rPr lang="en-US" sz="1600" b="1" dirty="0">
                <a:solidFill>
                  <a:srgbClr val="4472C4"/>
                </a:solidFill>
                <a:latin typeface="Arial" pitchFamily="34" charset="0"/>
                <a:ea typeface="Arial" pitchFamily="34" charset="-122"/>
                <a:cs typeface="Arial" pitchFamily="34" charset="-120"/>
              </a:rPr>
              <a:t>▸</a:t>
            </a:r>
            <a:endParaRPr lang="en-US" sz="1600" dirty="0"/>
          </a:p>
        </p:txBody>
      </p:sp>
      <p:sp>
        <p:nvSpPr>
          <p:cNvPr id="16" name="Text 14"/>
          <p:cNvSpPr/>
          <p:nvPr/>
        </p:nvSpPr>
        <p:spPr>
          <a:xfrm>
            <a:off x="1005840" y="3657600"/>
            <a:ext cx="4572000" cy="45720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Machine learning</a:t>
            </a:r>
            <a:endParaRPr lang="en-US" sz="1400" dirty="0"/>
          </a:p>
        </p:txBody>
      </p:sp>
      <p:sp>
        <p:nvSpPr>
          <p:cNvPr id="17" name="Text 15"/>
          <p:cNvSpPr/>
          <p:nvPr/>
        </p:nvSpPr>
        <p:spPr>
          <a:xfrm>
            <a:off x="640080" y="4206240"/>
            <a:ext cx="274320" cy="457200"/>
          </a:xfrm>
          <a:prstGeom prst="rect">
            <a:avLst/>
          </a:prstGeom>
          <a:noFill/>
          <a:ln/>
        </p:spPr>
        <p:txBody>
          <a:bodyPr wrap="square" rtlCol="0" anchor="ctr"/>
          <a:lstStyle/>
          <a:p>
            <a:pPr indent="0" marL="0">
              <a:buNone/>
            </a:pPr>
            <a:r>
              <a:rPr lang="en-US" sz="1600" b="1" dirty="0">
                <a:solidFill>
                  <a:srgbClr val="4472C4"/>
                </a:solidFill>
                <a:latin typeface="Arial" pitchFamily="34" charset="0"/>
                <a:ea typeface="Arial" pitchFamily="34" charset="-122"/>
                <a:cs typeface="Arial" pitchFamily="34" charset="-120"/>
              </a:rPr>
              <a:t>▸</a:t>
            </a:r>
            <a:endParaRPr lang="en-US" sz="1600" dirty="0"/>
          </a:p>
        </p:txBody>
      </p:sp>
      <p:sp>
        <p:nvSpPr>
          <p:cNvPr id="18" name="Text 16"/>
          <p:cNvSpPr/>
          <p:nvPr/>
        </p:nvSpPr>
        <p:spPr>
          <a:xfrm>
            <a:off x="1005840" y="4206240"/>
            <a:ext cx="4572000" cy="45720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Growth trends</a:t>
            </a:r>
            <a:endParaRPr lang="en-US" sz="1400" dirty="0"/>
          </a:p>
        </p:txBody>
      </p:sp>
      <p:sp>
        <p:nvSpPr>
          <p:cNvPr id="19" name="Text 17"/>
          <p:cNvSpPr/>
          <p:nvPr/>
        </p:nvSpPr>
        <p:spPr>
          <a:xfrm>
            <a:off x="457200" y="6400800"/>
            <a:ext cx="8229600" cy="365760"/>
          </a:xfrm>
          <a:prstGeom prst="rect">
            <a:avLst/>
          </a:prstGeom>
          <a:noFill/>
          <a:ln/>
        </p:spPr>
        <p:txBody>
          <a:bodyPr wrap="square" rtlCol="0" anchor="ctr"/>
          <a:lstStyle/>
          <a:p>
            <a:pPr algn="r" indent="0" marL="0">
              <a:buNone/>
            </a:pPr>
            <a:r>
              <a:rPr lang="en-US" sz="1000" dirty="0">
                <a:solidFill>
                  <a:srgbClr val="AAAAAA"/>
                </a:solidFill>
                <a:latin typeface="Arial" pitchFamily="34" charset="0"/>
                <a:ea typeface="Arial" pitchFamily="34" charset="-122"/>
                <a:cs typeface="Arial" pitchFamily="34" charset="-120"/>
              </a:rPr>
              <a:t>StylesByShahid | Slide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1F4E78"/>
          </a:solidFill>
          <a:ln/>
        </p:spPr>
      </p:sp>
      <p:sp>
        <p:nvSpPr>
          <p:cNvPr id="3" name="Shape 1"/>
          <p:cNvSpPr/>
          <p:nvPr/>
        </p:nvSpPr>
        <p:spPr>
          <a:xfrm>
            <a:off x="274320" y="320040"/>
            <a:ext cx="548640" cy="548640"/>
          </a:xfrm>
          <a:prstGeom prst="rect">
            <a:avLst/>
          </a:prstGeom>
          <a:solidFill>
            <a:srgbClr val="4472C4"/>
          </a:solidFill>
          <a:ln/>
        </p:spPr>
      </p:sp>
      <p:sp>
        <p:nvSpPr>
          <p:cNvPr id="4" name="Text 2"/>
          <p:cNvSpPr/>
          <p:nvPr/>
        </p:nvSpPr>
        <p:spPr>
          <a:xfrm>
            <a:off x="274320" y="320040"/>
            <a:ext cx="548640" cy="54864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5" name="Text 3"/>
          <p:cNvSpPr/>
          <p:nvPr/>
        </p:nvSpPr>
        <p:spPr>
          <a:xfrm>
            <a:off x="1005840" y="365760"/>
            <a:ext cx="4572000" cy="640080"/>
          </a:xfrm>
          <a:prstGeom prst="rect">
            <a:avLst/>
          </a:prstGeom>
          <a:noFill/>
          <a:ln/>
        </p:spPr>
        <p:txBody>
          <a:bodyPr wrap="square" rtlCol="0" anchor="ctr"/>
          <a:lstStyle/>
          <a:p>
            <a:pPr indent="0" marL="0">
              <a:buNone/>
            </a:pPr>
            <a:r>
              <a:rPr lang="en-US" sz="3200" b="1" dirty="0">
                <a:solidFill>
                  <a:srgbClr val="1F4E78"/>
                </a:solidFill>
                <a:latin typeface="Arial" pitchFamily="34" charset="0"/>
                <a:ea typeface="Arial" pitchFamily="34" charset="-122"/>
                <a:cs typeface="Arial" pitchFamily="34" charset="-120"/>
              </a:rPr>
              <a:t>Agentic Workflows</a:t>
            </a:r>
            <a:endParaRPr lang="en-US" sz="3200" dirty="0"/>
          </a:p>
        </p:txBody>
      </p:sp>
      <p:sp>
        <p:nvSpPr>
          <p:cNvPr id="6" name="Text 4"/>
          <p:cNvSpPr/>
          <p:nvPr/>
        </p:nvSpPr>
        <p:spPr>
          <a:xfrm>
            <a:off x="1005840" y="914400"/>
            <a:ext cx="4572000" cy="365760"/>
          </a:xfrm>
          <a:prstGeom prst="rect">
            <a:avLst/>
          </a:prstGeom>
          <a:noFill/>
          <a:ln/>
        </p:spPr>
        <p:txBody>
          <a:bodyPr wrap="square" rtlCol="0" anchor="ctr"/>
          <a:lstStyle/>
          <a:p>
            <a:pPr indent="0" marL="0">
              <a:buNone/>
            </a:pPr>
            <a:r>
              <a:rPr lang="en-US" sz="1600" i="1" dirty="0">
                <a:solidFill>
                  <a:srgbClr val="4472C4"/>
                </a:solidFill>
                <a:latin typeface="Arial" pitchFamily="34" charset="0"/>
                <a:ea typeface="Arial" pitchFamily="34" charset="-122"/>
                <a:cs typeface="Arial" pitchFamily="34" charset="-120"/>
              </a:rPr>
              <a:t>Automating Tasks with AI</a:t>
            </a:r>
            <a:endParaRPr lang="en-US" sz="1600" dirty="0"/>
          </a:p>
        </p:txBody>
      </p:sp>
      <p:sp>
        <p:nvSpPr>
          <p:cNvPr id="7" name="Shape 5"/>
          <p:cNvSpPr/>
          <p:nvPr/>
        </p:nvSpPr>
        <p:spPr>
          <a:xfrm>
            <a:off x="5989320" y="1417320"/>
            <a:ext cx="2743200" cy="2286000"/>
          </a:xfrm>
          <a:prstGeom prst="rect">
            <a:avLst/>
          </a:prstGeom>
          <a:solidFill>
            <a:srgbClr val="CCCCCC"/>
          </a:solidFill>
          <a:ln/>
        </p:spPr>
      </p:sp>
      <p:sp>
        <p:nvSpPr>
          <p:cNvPr id="8" name="Shape 6"/>
          <p:cNvSpPr/>
          <p:nvPr/>
        </p:nvSpPr>
        <p:spPr>
          <a:xfrm>
            <a:off x="5943600" y="1371600"/>
            <a:ext cx="2743200" cy="2286000"/>
          </a:xfrm>
          <a:prstGeom prst="rect">
            <a:avLst/>
          </a:prstGeom>
          <a:solidFill>
            <a:srgbClr val="F8F8F8"/>
          </a:solidFill>
          <a:ln w="25400">
            <a:solidFill>
              <a:srgbClr val="4472C4"/>
            </a:solidFill>
            <a:prstDash val="solid"/>
          </a:ln>
        </p:spPr>
      </p:sp>
      <p:sp>
        <p:nvSpPr>
          <p:cNvPr id="9" name="Text 7"/>
          <p:cNvSpPr/>
          <p:nvPr/>
        </p:nvSpPr>
        <p:spPr>
          <a:xfrm>
            <a:off x="5943600" y="2103120"/>
            <a:ext cx="2743200" cy="914400"/>
          </a:xfrm>
          <a:prstGeom prst="rect">
            <a:avLst/>
          </a:prstGeom>
          <a:noFill/>
          <a:ln/>
        </p:spPr>
        <p:txBody>
          <a:bodyPr wrap="square" rtlCol="0" anchor="ctr"/>
          <a:lstStyle/>
          <a:p>
            <a:pPr algn="ctr" indent="0" marL="0">
              <a:buNone/>
            </a:pPr>
            <a:r>
              <a:rPr lang="en-US" sz="1400" dirty="0">
                <a:solidFill>
                  <a:srgbClr val="999999"/>
                </a:solidFill>
                <a:latin typeface="Arial" pitchFamily="34" charset="0"/>
                <a:ea typeface="Arial" pitchFamily="34" charset="-122"/>
                <a:cs typeface="Arial" pitchFamily="34" charset="-120"/>
              </a:rPr>
              <a:t>🖼️</a:t>
            </a:r>
            <a:endParaRPr lang="en-US" sz="1400" dirty="0"/>
          </a:p>
          <a:p>
            <a:pPr algn="ctr" indent="0" marL="0">
              <a:buNone/>
            </a:pPr>
            <a:endParaRPr lang="en-US" sz="1400" dirty="0"/>
          </a:p>
          <a:p>
            <a:pPr algn="ctr" indent="0" marL="0">
              <a:buNone/>
            </a:pPr>
            <a:r>
              <a:rPr lang="en-US" sz="1400" dirty="0">
                <a:solidFill>
                  <a:srgbClr val="999999"/>
                </a:solidFill>
                <a:latin typeface="Arial" pitchFamily="34" charset="0"/>
                <a:ea typeface="Arial" pitchFamily="34" charset="-122"/>
                <a:cs typeface="Arial" pitchFamily="34" charset="-120"/>
              </a:rPr>
              <a:t>Image Placeholder</a:t>
            </a:r>
            <a:endParaRPr lang="en-US" sz="1400" dirty="0"/>
          </a:p>
        </p:txBody>
      </p:sp>
      <p:sp>
        <p:nvSpPr>
          <p:cNvPr id="10" name="Text 8"/>
          <p:cNvSpPr/>
          <p:nvPr/>
        </p:nvSpPr>
        <p:spPr>
          <a:xfrm>
            <a:off x="5943600" y="3749040"/>
            <a:ext cx="2743200" cy="274320"/>
          </a:xfrm>
          <a:prstGeom prst="rect">
            <a:avLst/>
          </a:prstGeom>
          <a:noFill/>
          <a:ln/>
        </p:spPr>
        <p:txBody>
          <a:bodyPr wrap="square" rtlCol="0" anchor="ctr"/>
          <a:lstStyle/>
          <a:p>
            <a:pPr algn="ctr" indent="0" marL="0">
              <a:buNone/>
            </a:pPr>
            <a:r>
              <a:rPr lang="en-US" sz="900" i="1" dirty="0">
                <a:solidFill>
                  <a:srgbClr val="888888"/>
                </a:solidFill>
                <a:latin typeface="Arial" pitchFamily="34" charset="0"/>
                <a:ea typeface="Arial" pitchFamily="34" charset="-122"/>
                <a:cs typeface="Arial" pitchFamily="34" charset="-120"/>
              </a:rPr>
              <a:t>Suggest: infographic illustrating workflow automation</a:t>
            </a:r>
            <a:endParaRPr lang="en-US" sz="900" dirty="0"/>
          </a:p>
        </p:txBody>
      </p:sp>
      <p:sp>
        <p:nvSpPr>
          <p:cNvPr id="11" name="Text 9"/>
          <p:cNvSpPr/>
          <p:nvPr/>
        </p:nvSpPr>
        <p:spPr>
          <a:xfrm>
            <a:off x="457200" y="1463040"/>
            <a:ext cx="5029200" cy="1097280"/>
          </a:xfrm>
          <a:prstGeom prst="rect">
            <a:avLst/>
          </a:prstGeom>
          <a:noFill/>
          <a:ln/>
        </p:spPr>
        <p:txBody>
          <a:bodyPr wrap="square" rtlCol="0" anchor="t"/>
          <a:lstStyle/>
          <a:p>
            <a:pPr algn="l" indent="0" marL="0">
              <a:buNone/>
            </a:pPr>
            <a:r>
              <a:rPr lang="en-US" sz="1300" dirty="0">
                <a:solidFill>
                  <a:srgbClr val="333333"/>
                </a:solidFill>
                <a:latin typeface="Arial" pitchFamily="34" charset="0"/>
                <a:ea typeface="Arial" pitchFamily="34" charset="-122"/>
                <a:cs typeface="Arial" pitchFamily="34" charset="-120"/>
              </a:rPr>
              <a:t>Agentic workflows utilize AI to automate repetitive tasks, freeing up human resources for strategic decision-making. This enables organizations to optimize their workflows, improve productivity, and reduce costs. By integrating AI into their workflows, businesses can gain a competitive edge.</a:t>
            </a:r>
            <a:endParaRPr lang="en-US" sz="1300" dirty="0"/>
          </a:p>
        </p:txBody>
      </p:sp>
      <p:sp>
        <p:nvSpPr>
          <p:cNvPr id="12" name="Text 10"/>
          <p:cNvSpPr/>
          <p:nvPr/>
        </p:nvSpPr>
        <p:spPr>
          <a:xfrm>
            <a:off x="457200" y="2651760"/>
            <a:ext cx="5029200" cy="365760"/>
          </a:xfrm>
          <a:prstGeom prst="rect">
            <a:avLst/>
          </a:prstGeom>
          <a:noFill/>
          <a:ln/>
        </p:spPr>
        <p:txBody>
          <a:bodyPr wrap="square" rtlCol="0" anchor="ctr"/>
          <a:lstStyle/>
          <a:p>
            <a:pPr indent="0" marL="0">
              <a:buNone/>
            </a:pPr>
            <a:r>
              <a:rPr lang="en-US" sz="1600" b="1" dirty="0">
                <a:solidFill>
                  <a:srgbClr val="1F4E78"/>
                </a:solidFill>
                <a:latin typeface="Arial" pitchFamily="34" charset="0"/>
                <a:ea typeface="Arial" pitchFamily="34" charset="-122"/>
                <a:cs typeface="Arial" pitchFamily="34" charset="-120"/>
              </a:rPr>
              <a:t>Key Points:</a:t>
            </a:r>
            <a:endParaRPr lang="en-US" sz="1600" dirty="0"/>
          </a:p>
        </p:txBody>
      </p:sp>
      <p:sp>
        <p:nvSpPr>
          <p:cNvPr id="13" name="Text 11"/>
          <p:cNvSpPr/>
          <p:nvPr/>
        </p:nvSpPr>
        <p:spPr>
          <a:xfrm>
            <a:off x="640080" y="3108960"/>
            <a:ext cx="274320" cy="457200"/>
          </a:xfrm>
          <a:prstGeom prst="rect">
            <a:avLst/>
          </a:prstGeom>
          <a:noFill/>
          <a:ln/>
        </p:spPr>
        <p:txBody>
          <a:bodyPr wrap="square" rtlCol="0" anchor="ctr"/>
          <a:lstStyle/>
          <a:p>
            <a:pPr indent="0" marL="0">
              <a:buNone/>
            </a:pPr>
            <a:r>
              <a:rPr lang="en-US" sz="1600" b="1" dirty="0">
                <a:solidFill>
                  <a:srgbClr val="4472C4"/>
                </a:solidFill>
                <a:latin typeface="Arial" pitchFamily="34" charset="0"/>
                <a:ea typeface="Arial" pitchFamily="34" charset="-122"/>
                <a:cs typeface="Arial" pitchFamily="34" charset="-120"/>
              </a:rPr>
              <a:t>▸</a:t>
            </a:r>
            <a:endParaRPr lang="en-US" sz="1600" dirty="0"/>
          </a:p>
        </p:txBody>
      </p:sp>
      <p:sp>
        <p:nvSpPr>
          <p:cNvPr id="14" name="Text 12"/>
          <p:cNvSpPr/>
          <p:nvPr/>
        </p:nvSpPr>
        <p:spPr>
          <a:xfrm>
            <a:off x="1005840" y="3108960"/>
            <a:ext cx="4572000" cy="45720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Task automation</a:t>
            </a:r>
            <a:endParaRPr lang="en-US" sz="1400" dirty="0"/>
          </a:p>
        </p:txBody>
      </p:sp>
      <p:sp>
        <p:nvSpPr>
          <p:cNvPr id="15" name="Text 13"/>
          <p:cNvSpPr/>
          <p:nvPr/>
        </p:nvSpPr>
        <p:spPr>
          <a:xfrm>
            <a:off x="640080" y="3657600"/>
            <a:ext cx="274320" cy="457200"/>
          </a:xfrm>
          <a:prstGeom prst="rect">
            <a:avLst/>
          </a:prstGeom>
          <a:noFill/>
          <a:ln/>
        </p:spPr>
        <p:txBody>
          <a:bodyPr wrap="square" rtlCol="0" anchor="ctr"/>
          <a:lstStyle/>
          <a:p>
            <a:pPr indent="0" marL="0">
              <a:buNone/>
            </a:pPr>
            <a:r>
              <a:rPr lang="en-US" sz="1600" b="1" dirty="0">
                <a:solidFill>
                  <a:srgbClr val="4472C4"/>
                </a:solidFill>
                <a:latin typeface="Arial" pitchFamily="34" charset="0"/>
                <a:ea typeface="Arial" pitchFamily="34" charset="-122"/>
                <a:cs typeface="Arial" pitchFamily="34" charset="-120"/>
              </a:rPr>
              <a:t>▸</a:t>
            </a:r>
            <a:endParaRPr lang="en-US" sz="1600" dirty="0"/>
          </a:p>
        </p:txBody>
      </p:sp>
      <p:sp>
        <p:nvSpPr>
          <p:cNvPr id="16" name="Text 14"/>
          <p:cNvSpPr/>
          <p:nvPr/>
        </p:nvSpPr>
        <p:spPr>
          <a:xfrm>
            <a:off x="1005840" y="3657600"/>
            <a:ext cx="4572000" cy="45720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AI integration</a:t>
            </a:r>
            <a:endParaRPr lang="en-US" sz="1400" dirty="0"/>
          </a:p>
        </p:txBody>
      </p:sp>
      <p:sp>
        <p:nvSpPr>
          <p:cNvPr id="17" name="Text 15"/>
          <p:cNvSpPr/>
          <p:nvPr/>
        </p:nvSpPr>
        <p:spPr>
          <a:xfrm>
            <a:off x="640080" y="4206240"/>
            <a:ext cx="274320" cy="457200"/>
          </a:xfrm>
          <a:prstGeom prst="rect">
            <a:avLst/>
          </a:prstGeom>
          <a:noFill/>
          <a:ln/>
        </p:spPr>
        <p:txBody>
          <a:bodyPr wrap="square" rtlCol="0" anchor="ctr"/>
          <a:lstStyle/>
          <a:p>
            <a:pPr indent="0" marL="0">
              <a:buNone/>
            </a:pPr>
            <a:r>
              <a:rPr lang="en-US" sz="1600" b="1" dirty="0">
                <a:solidFill>
                  <a:srgbClr val="4472C4"/>
                </a:solidFill>
                <a:latin typeface="Arial" pitchFamily="34" charset="0"/>
                <a:ea typeface="Arial" pitchFamily="34" charset="-122"/>
                <a:cs typeface="Arial" pitchFamily="34" charset="-120"/>
              </a:rPr>
              <a:t>▸</a:t>
            </a:r>
            <a:endParaRPr lang="en-US" sz="1600" dirty="0"/>
          </a:p>
        </p:txBody>
      </p:sp>
      <p:sp>
        <p:nvSpPr>
          <p:cNvPr id="18" name="Text 16"/>
          <p:cNvSpPr/>
          <p:nvPr/>
        </p:nvSpPr>
        <p:spPr>
          <a:xfrm>
            <a:off x="1005840" y="4206240"/>
            <a:ext cx="4572000" cy="45720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Workforce optimization</a:t>
            </a:r>
            <a:endParaRPr lang="en-US" sz="1400" dirty="0"/>
          </a:p>
        </p:txBody>
      </p:sp>
      <p:sp>
        <p:nvSpPr>
          <p:cNvPr id="19" name="Text 17"/>
          <p:cNvSpPr/>
          <p:nvPr/>
        </p:nvSpPr>
        <p:spPr>
          <a:xfrm>
            <a:off x="457200" y="6400800"/>
            <a:ext cx="8229600" cy="365760"/>
          </a:xfrm>
          <a:prstGeom prst="rect">
            <a:avLst/>
          </a:prstGeom>
          <a:noFill/>
          <a:ln/>
        </p:spPr>
        <p:txBody>
          <a:bodyPr wrap="square" rtlCol="0" anchor="ctr"/>
          <a:lstStyle/>
          <a:p>
            <a:pPr algn="r" indent="0" marL="0">
              <a:buNone/>
            </a:pPr>
            <a:r>
              <a:rPr lang="en-US" sz="1000" dirty="0">
                <a:solidFill>
                  <a:srgbClr val="AAAAAA"/>
                </a:solidFill>
                <a:latin typeface="Arial" pitchFamily="34" charset="0"/>
                <a:ea typeface="Arial" pitchFamily="34" charset="-122"/>
                <a:cs typeface="Arial" pitchFamily="34" charset="-120"/>
              </a:rPr>
              <a:t>StylesByShahid | Slide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1F4E78"/>
          </a:solidFill>
          <a:ln/>
        </p:spPr>
      </p:sp>
      <p:sp>
        <p:nvSpPr>
          <p:cNvPr id="3" name="Shape 1"/>
          <p:cNvSpPr/>
          <p:nvPr/>
        </p:nvSpPr>
        <p:spPr>
          <a:xfrm>
            <a:off x="274320" y="320040"/>
            <a:ext cx="548640" cy="548640"/>
          </a:xfrm>
          <a:prstGeom prst="rect">
            <a:avLst/>
          </a:prstGeom>
          <a:solidFill>
            <a:srgbClr val="4472C4"/>
          </a:solidFill>
          <a:ln/>
        </p:spPr>
      </p:sp>
      <p:sp>
        <p:nvSpPr>
          <p:cNvPr id="4" name="Text 2"/>
          <p:cNvSpPr/>
          <p:nvPr/>
        </p:nvSpPr>
        <p:spPr>
          <a:xfrm>
            <a:off x="274320" y="320040"/>
            <a:ext cx="548640" cy="54864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5" name="Text 3"/>
          <p:cNvSpPr/>
          <p:nvPr/>
        </p:nvSpPr>
        <p:spPr>
          <a:xfrm>
            <a:off x="1005840" y="365760"/>
            <a:ext cx="4572000" cy="640080"/>
          </a:xfrm>
          <a:prstGeom prst="rect">
            <a:avLst/>
          </a:prstGeom>
          <a:noFill/>
          <a:ln/>
        </p:spPr>
        <p:txBody>
          <a:bodyPr wrap="square" rtlCol="0" anchor="ctr"/>
          <a:lstStyle/>
          <a:p>
            <a:pPr indent="0" marL="0">
              <a:buNone/>
            </a:pPr>
            <a:r>
              <a:rPr lang="en-US" sz="3200" b="1" dirty="0">
                <a:solidFill>
                  <a:srgbClr val="1F4E78"/>
                </a:solidFill>
                <a:latin typeface="Arial" pitchFamily="34" charset="0"/>
                <a:ea typeface="Arial" pitchFamily="34" charset="-122"/>
                <a:cs typeface="Arial" pitchFamily="34" charset="-120"/>
              </a:rPr>
              <a:t>Multimodal Systems</a:t>
            </a:r>
            <a:endParaRPr lang="en-US" sz="3200" dirty="0"/>
          </a:p>
        </p:txBody>
      </p:sp>
      <p:sp>
        <p:nvSpPr>
          <p:cNvPr id="6" name="Text 4"/>
          <p:cNvSpPr/>
          <p:nvPr/>
        </p:nvSpPr>
        <p:spPr>
          <a:xfrm>
            <a:off x="1005840" y="914400"/>
            <a:ext cx="4572000" cy="365760"/>
          </a:xfrm>
          <a:prstGeom prst="rect">
            <a:avLst/>
          </a:prstGeom>
          <a:noFill/>
          <a:ln/>
        </p:spPr>
        <p:txBody>
          <a:bodyPr wrap="square" rtlCol="0" anchor="ctr"/>
          <a:lstStyle/>
          <a:p>
            <a:pPr indent="0" marL="0">
              <a:buNone/>
            </a:pPr>
            <a:r>
              <a:rPr lang="en-US" sz="1600" i="1" dirty="0">
                <a:solidFill>
                  <a:srgbClr val="4472C4"/>
                </a:solidFill>
                <a:latin typeface="Arial" pitchFamily="34" charset="0"/>
                <a:ea typeface="Arial" pitchFamily="34" charset="-122"/>
                <a:cs typeface="Arial" pitchFamily="34" charset="-120"/>
              </a:rPr>
              <a:t>Interacting with AI</a:t>
            </a:r>
            <a:endParaRPr lang="en-US" sz="1600" dirty="0"/>
          </a:p>
        </p:txBody>
      </p:sp>
      <p:sp>
        <p:nvSpPr>
          <p:cNvPr id="7" name="Shape 5"/>
          <p:cNvSpPr/>
          <p:nvPr/>
        </p:nvSpPr>
        <p:spPr>
          <a:xfrm>
            <a:off x="5989320" y="1417320"/>
            <a:ext cx="2743200" cy="2286000"/>
          </a:xfrm>
          <a:prstGeom prst="rect">
            <a:avLst/>
          </a:prstGeom>
          <a:solidFill>
            <a:srgbClr val="CCCCCC"/>
          </a:solidFill>
          <a:ln/>
        </p:spPr>
      </p:sp>
      <p:sp>
        <p:nvSpPr>
          <p:cNvPr id="8" name="Shape 6"/>
          <p:cNvSpPr/>
          <p:nvPr/>
        </p:nvSpPr>
        <p:spPr>
          <a:xfrm>
            <a:off x="5943600" y="1371600"/>
            <a:ext cx="2743200" cy="2286000"/>
          </a:xfrm>
          <a:prstGeom prst="rect">
            <a:avLst/>
          </a:prstGeom>
          <a:solidFill>
            <a:srgbClr val="F8F8F8"/>
          </a:solidFill>
          <a:ln w="25400">
            <a:solidFill>
              <a:srgbClr val="4472C4"/>
            </a:solidFill>
            <a:prstDash val="solid"/>
          </a:ln>
        </p:spPr>
      </p:sp>
      <p:sp>
        <p:nvSpPr>
          <p:cNvPr id="9" name="Text 7"/>
          <p:cNvSpPr/>
          <p:nvPr/>
        </p:nvSpPr>
        <p:spPr>
          <a:xfrm>
            <a:off x="5943600" y="2103120"/>
            <a:ext cx="2743200" cy="914400"/>
          </a:xfrm>
          <a:prstGeom prst="rect">
            <a:avLst/>
          </a:prstGeom>
          <a:noFill/>
          <a:ln/>
        </p:spPr>
        <p:txBody>
          <a:bodyPr wrap="square" rtlCol="0" anchor="ctr"/>
          <a:lstStyle/>
          <a:p>
            <a:pPr algn="ctr" indent="0" marL="0">
              <a:buNone/>
            </a:pPr>
            <a:r>
              <a:rPr lang="en-US" sz="1400" dirty="0">
                <a:solidFill>
                  <a:srgbClr val="999999"/>
                </a:solidFill>
                <a:latin typeface="Arial" pitchFamily="34" charset="0"/>
                <a:ea typeface="Arial" pitchFamily="34" charset="-122"/>
                <a:cs typeface="Arial" pitchFamily="34" charset="-120"/>
              </a:rPr>
              <a:t>🖼️</a:t>
            </a:r>
            <a:endParaRPr lang="en-US" sz="1400" dirty="0"/>
          </a:p>
          <a:p>
            <a:pPr algn="ctr" indent="0" marL="0">
              <a:buNone/>
            </a:pPr>
            <a:endParaRPr lang="en-US" sz="1400" dirty="0"/>
          </a:p>
          <a:p>
            <a:pPr algn="ctr" indent="0" marL="0">
              <a:buNone/>
            </a:pPr>
            <a:r>
              <a:rPr lang="en-US" sz="1400" dirty="0">
                <a:solidFill>
                  <a:srgbClr val="999999"/>
                </a:solidFill>
                <a:latin typeface="Arial" pitchFamily="34" charset="0"/>
                <a:ea typeface="Arial" pitchFamily="34" charset="-122"/>
                <a:cs typeface="Arial" pitchFamily="34" charset="-120"/>
              </a:rPr>
              <a:t>Image Placeholder</a:t>
            </a:r>
            <a:endParaRPr lang="en-US" sz="1400" dirty="0"/>
          </a:p>
        </p:txBody>
      </p:sp>
      <p:sp>
        <p:nvSpPr>
          <p:cNvPr id="10" name="Text 8"/>
          <p:cNvSpPr/>
          <p:nvPr/>
        </p:nvSpPr>
        <p:spPr>
          <a:xfrm>
            <a:off x="5943600" y="3749040"/>
            <a:ext cx="2743200" cy="274320"/>
          </a:xfrm>
          <a:prstGeom prst="rect">
            <a:avLst/>
          </a:prstGeom>
          <a:noFill/>
          <a:ln/>
        </p:spPr>
        <p:txBody>
          <a:bodyPr wrap="square" rtlCol="0" anchor="ctr"/>
          <a:lstStyle/>
          <a:p>
            <a:pPr algn="ctr" indent="0" marL="0">
              <a:buNone/>
            </a:pPr>
            <a:r>
              <a:rPr lang="en-US" sz="900" i="1" dirty="0">
                <a:solidFill>
                  <a:srgbClr val="888888"/>
                </a:solidFill>
                <a:latin typeface="Arial" pitchFamily="34" charset="0"/>
                <a:ea typeface="Arial" pitchFamily="34" charset="-122"/>
                <a:cs typeface="Arial" pitchFamily="34" charset="-120"/>
              </a:rPr>
              <a:t>Suggest: photo of person interacting with virtual assistant</a:t>
            </a:r>
            <a:endParaRPr lang="en-US" sz="900" dirty="0"/>
          </a:p>
        </p:txBody>
      </p:sp>
      <p:sp>
        <p:nvSpPr>
          <p:cNvPr id="11" name="Text 9"/>
          <p:cNvSpPr/>
          <p:nvPr/>
        </p:nvSpPr>
        <p:spPr>
          <a:xfrm>
            <a:off x="457200" y="1463040"/>
            <a:ext cx="5029200" cy="1097280"/>
          </a:xfrm>
          <a:prstGeom prst="rect">
            <a:avLst/>
          </a:prstGeom>
          <a:noFill/>
          <a:ln/>
        </p:spPr>
        <p:txBody>
          <a:bodyPr wrap="square" rtlCol="0" anchor="t"/>
          <a:lstStyle/>
          <a:p>
            <a:pPr algn="l" indent="0" marL="0">
              <a:buNone/>
            </a:pPr>
            <a:r>
              <a:rPr lang="en-US" sz="1300" dirty="0">
                <a:solidFill>
                  <a:srgbClr val="333333"/>
                </a:solidFill>
                <a:latin typeface="Arial" pitchFamily="34" charset="0"/>
                <a:ea typeface="Arial" pitchFamily="34" charset="-122"/>
                <a:cs typeface="Arial" pitchFamily="34" charset="-120"/>
              </a:rPr>
              <a:t>Multimodal systems enable users to interact with AI-powered applications through various modes, such as voice, text, or gesture. This enhances the user experience, making it more intuitive and engaging. Multimodal systems have numerous applications, including virtual assistants and customer service chatbots.</a:t>
            </a:r>
            <a:endParaRPr lang="en-US" sz="1300" dirty="0"/>
          </a:p>
        </p:txBody>
      </p:sp>
      <p:sp>
        <p:nvSpPr>
          <p:cNvPr id="12" name="Text 10"/>
          <p:cNvSpPr/>
          <p:nvPr/>
        </p:nvSpPr>
        <p:spPr>
          <a:xfrm>
            <a:off x="457200" y="2651760"/>
            <a:ext cx="5029200" cy="365760"/>
          </a:xfrm>
          <a:prstGeom prst="rect">
            <a:avLst/>
          </a:prstGeom>
          <a:noFill/>
          <a:ln/>
        </p:spPr>
        <p:txBody>
          <a:bodyPr wrap="square" rtlCol="0" anchor="ctr"/>
          <a:lstStyle/>
          <a:p>
            <a:pPr indent="0" marL="0">
              <a:buNone/>
            </a:pPr>
            <a:r>
              <a:rPr lang="en-US" sz="1600" b="1" dirty="0">
                <a:solidFill>
                  <a:srgbClr val="1F4E78"/>
                </a:solidFill>
                <a:latin typeface="Arial" pitchFamily="34" charset="0"/>
                <a:ea typeface="Arial" pitchFamily="34" charset="-122"/>
                <a:cs typeface="Arial" pitchFamily="34" charset="-120"/>
              </a:rPr>
              <a:t>Key Points:</a:t>
            </a:r>
            <a:endParaRPr lang="en-US" sz="1600" dirty="0"/>
          </a:p>
        </p:txBody>
      </p:sp>
      <p:sp>
        <p:nvSpPr>
          <p:cNvPr id="13" name="Text 11"/>
          <p:cNvSpPr/>
          <p:nvPr/>
        </p:nvSpPr>
        <p:spPr>
          <a:xfrm>
            <a:off x="640080" y="3108960"/>
            <a:ext cx="274320" cy="457200"/>
          </a:xfrm>
          <a:prstGeom prst="rect">
            <a:avLst/>
          </a:prstGeom>
          <a:noFill/>
          <a:ln/>
        </p:spPr>
        <p:txBody>
          <a:bodyPr wrap="square" rtlCol="0" anchor="ctr"/>
          <a:lstStyle/>
          <a:p>
            <a:pPr indent="0" marL="0">
              <a:buNone/>
            </a:pPr>
            <a:r>
              <a:rPr lang="en-US" sz="1600" b="1" dirty="0">
                <a:solidFill>
                  <a:srgbClr val="4472C4"/>
                </a:solidFill>
                <a:latin typeface="Arial" pitchFamily="34" charset="0"/>
                <a:ea typeface="Arial" pitchFamily="34" charset="-122"/>
                <a:cs typeface="Arial" pitchFamily="34" charset="-120"/>
              </a:rPr>
              <a:t>▸</a:t>
            </a:r>
            <a:endParaRPr lang="en-US" sz="1600" dirty="0"/>
          </a:p>
        </p:txBody>
      </p:sp>
      <p:sp>
        <p:nvSpPr>
          <p:cNvPr id="14" name="Text 12"/>
          <p:cNvSpPr/>
          <p:nvPr/>
        </p:nvSpPr>
        <p:spPr>
          <a:xfrm>
            <a:off x="1005840" y="3108960"/>
            <a:ext cx="4572000" cy="45720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Voice interaction</a:t>
            </a:r>
            <a:endParaRPr lang="en-US" sz="1400" dirty="0"/>
          </a:p>
        </p:txBody>
      </p:sp>
      <p:sp>
        <p:nvSpPr>
          <p:cNvPr id="15" name="Text 13"/>
          <p:cNvSpPr/>
          <p:nvPr/>
        </p:nvSpPr>
        <p:spPr>
          <a:xfrm>
            <a:off x="640080" y="3657600"/>
            <a:ext cx="274320" cy="457200"/>
          </a:xfrm>
          <a:prstGeom prst="rect">
            <a:avLst/>
          </a:prstGeom>
          <a:noFill/>
          <a:ln/>
        </p:spPr>
        <p:txBody>
          <a:bodyPr wrap="square" rtlCol="0" anchor="ctr"/>
          <a:lstStyle/>
          <a:p>
            <a:pPr indent="0" marL="0">
              <a:buNone/>
            </a:pPr>
            <a:r>
              <a:rPr lang="en-US" sz="1600" b="1" dirty="0">
                <a:solidFill>
                  <a:srgbClr val="4472C4"/>
                </a:solidFill>
                <a:latin typeface="Arial" pitchFamily="34" charset="0"/>
                <a:ea typeface="Arial" pitchFamily="34" charset="-122"/>
                <a:cs typeface="Arial" pitchFamily="34" charset="-120"/>
              </a:rPr>
              <a:t>▸</a:t>
            </a:r>
            <a:endParaRPr lang="en-US" sz="1600" dirty="0"/>
          </a:p>
        </p:txBody>
      </p:sp>
      <p:sp>
        <p:nvSpPr>
          <p:cNvPr id="16" name="Text 14"/>
          <p:cNvSpPr/>
          <p:nvPr/>
        </p:nvSpPr>
        <p:spPr>
          <a:xfrm>
            <a:off x="1005840" y="3657600"/>
            <a:ext cx="4572000" cy="45720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Text-based input</a:t>
            </a:r>
            <a:endParaRPr lang="en-US" sz="1400" dirty="0"/>
          </a:p>
        </p:txBody>
      </p:sp>
      <p:sp>
        <p:nvSpPr>
          <p:cNvPr id="17" name="Text 15"/>
          <p:cNvSpPr/>
          <p:nvPr/>
        </p:nvSpPr>
        <p:spPr>
          <a:xfrm>
            <a:off x="640080" y="4206240"/>
            <a:ext cx="274320" cy="457200"/>
          </a:xfrm>
          <a:prstGeom prst="rect">
            <a:avLst/>
          </a:prstGeom>
          <a:noFill/>
          <a:ln/>
        </p:spPr>
        <p:txBody>
          <a:bodyPr wrap="square" rtlCol="0" anchor="ctr"/>
          <a:lstStyle/>
          <a:p>
            <a:pPr indent="0" marL="0">
              <a:buNone/>
            </a:pPr>
            <a:r>
              <a:rPr lang="en-US" sz="1600" b="1" dirty="0">
                <a:solidFill>
                  <a:srgbClr val="4472C4"/>
                </a:solidFill>
                <a:latin typeface="Arial" pitchFamily="34" charset="0"/>
                <a:ea typeface="Arial" pitchFamily="34" charset="-122"/>
                <a:cs typeface="Arial" pitchFamily="34" charset="-120"/>
              </a:rPr>
              <a:t>▸</a:t>
            </a:r>
            <a:endParaRPr lang="en-US" sz="1600" dirty="0"/>
          </a:p>
        </p:txBody>
      </p:sp>
      <p:sp>
        <p:nvSpPr>
          <p:cNvPr id="18" name="Text 16"/>
          <p:cNvSpPr/>
          <p:nvPr/>
        </p:nvSpPr>
        <p:spPr>
          <a:xfrm>
            <a:off x="1005840" y="4206240"/>
            <a:ext cx="4572000" cy="45720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Gesture recognition</a:t>
            </a:r>
            <a:endParaRPr lang="en-US" sz="1400" dirty="0"/>
          </a:p>
        </p:txBody>
      </p:sp>
      <p:sp>
        <p:nvSpPr>
          <p:cNvPr id="19" name="Text 17"/>
          <p:cNvSpPr/>
          <p:nvPr/>
        </p:nvSpPr>
        <p:spPr>
          <a:xfrm>
            <a:off x="457200" y="6400800"/>
            <a:ext cx="8229600" cy="365760"/>
          </a:xfrm>
          <a:prstGeom prst="rect">
            <a:avLst/>
          </a:prstGeom>
          <a:noFill/>
          <a:ln/>
        </p:spPr>
        <p:txBody>
          <a:bodyPr wrap="square" rtlCol="0" anchor="ctr"/>
          <a:lstStyle/>
          <a:p>
            <a:pPr algn="r" indent="0" marL="0">
              <a:buNone/>
            </a:pPr>
            <a:r>
              <a:rPr lang="en-US" sz="1000" dirty="0">
                <a:solidFill>
                  <a:srgbClr val="AAAAAA"/>
                </a:solidFill>
                <a:latin typeface="Arial" pitchFamily="34" charset="0"/>
                <a:ea typeface="Arial" pitchFamily="34" charset="-122"/>
                <a:cs typeface="Arial" pitchFamily="34" charset="-120"/>
              </a:rPr>
              <a:t>StylesByShahid | Slide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1F4E78"/>
          </a:solidFill>
          <a:ln/>
        </p:spPr>
      </p:sp>
      <p:sp>
        <p:nvSpPr>
          <p:cNvPr id="3" name="Shape 1"/>
          <p:cNvSpPr/>
          <p:nvPr/>
        </p:nvSpPr>
        <p:spPr>
          <a:xfrm>
            <a:off x="274320" y="320040"/>
            <a:ext cx="548640" cy="548640"/>
          </a:xfrm>
          <a:prstGeom prst="rect">
            <a:avLst/>
          </a:prstGeom>
          <a:solidFill>
            <a:srgbClr val="4472C4"/>
          </a:solidFill>
          <a:ln/>
        </p:spPr>
      </p:sp>
      <p:sp>
        <p:nvSpPr>
          <p:cNvPr id="4" name="Text 2"/>
          <p:cNvSpPr/>
          <p:nvPr/>
        </p:nvSpPr>
        <p:spPr>
          <a:xfrm>
            <a:off x="274320" y="320040"/>
            <a:ext cx="548640" cy="548640"/>
          </a:xfrm>
          <a:prstGeom prst="rect">
            <a:avLst/>
          </a:prstGeom>
          <a:noFill/>
          <a:ln/>
        </p:spPr>
        <p:txBody>
          <a:bodyPr wrap="square"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5" name="Text 3"/>
          <p:cNvSpPr/>
          <p:nvPr/>
        </p:nvSpPr>
        <p:spPr>
          <a:xfrm>
            <a:off x="1005840" y="365760"/>
            <a:ext cx="4572000" cy="640080"/>
          </a:xfrm>
          <a:prstGeom prst="rect">
            <a:avLst/>
          </a:prstGeom>
          <a:noFill/>
          <a:ln/>
        </p:spPr>
        <p:txBody>
          <a:bodyPr wrap="square" rtlCol="0" anchor="ctr"/>
          <a:lstStyle/>
          <a:p>
            <a:pPr indent="0" marL="0">
              <a:buNone/>
            </a:pPr>
            <a:r>
              <a:rPr lang="en-US" sz="3200" b="1" dirty="0">
                <a:solidFill>
                  <a:srgbClr val="1F4E78"/>
                </a:solidFill>
                <a:latin typeface="Arial" pitchFamily="34" charset="0"/>
                <a:ea typeface="Arial" pitchFamily="34" charset="-122"/>
                <a:cs typeface="Arial" pitchFamily="34" charset="-120"/>
              </a:rPr>
              <a:t>Governance and Trust</a:t>
            </a:r>
            <a:endParaRPr lang="en-US" sz="3200" dirty="0"/>
          </a:p>
        </p:txBody>
      </p:sp>
      <p:sp>
        <p:nvSpPr>
          <p:cNvPr id="6" name="Text 4"/>
          <p:cNvSpPr/>
          <p:nvPr/>
        </p:nvSpPr>
        <p:spPr>
          <a:xfrm>
            <a:off x="1005840" y="914400"/>
            <a:ext cx="4572000" cy="365760"/>
          </a:xfrm>
          <a:prstGeom prst="rect">
            <a:avLst/>
          </a:prstGeom>
          <a:noFill/>
          <a:ln/>
        </p:spPr>
        <p:txBody>
          <a:bodyPr wrap="square" rtlCol="0" anchor="ctr"/>
          <a:lstStyle/>
          <a:p>
            <a:pPr indent="0" marL="0">
              <a:buNone/>
            </a:pPr>
            <a:r>
              <a:rPr lang="en-US" sz="1600" i="1" dirty="0">
                <a:solidFill>
                  <a:srgbClr val="4472C4"/>
                </a:solidFill>
                <a:latin typeface="Arial" pitchFamily="34" charset="0"/>
                <a:ea typeface="Arial" pitchFamily="34" charset="-122"/>
                <a:cs typeface="Arial" pitchFamily="34" charset="-120"/>
              </a:rPr>
              <a:t>Ensuring AI Accountability</a:t>
            </a:r>
            <a:endParaRPr lang="en-US" sz="1600" dirty="0"/>
          </a:p>
        </p:txBody>
      </p:sp>
      <p:sp>
        <p:nvSpPr>
          <p:cNvPr id="7" name="Shape 5"/>
          <p:cNvSpPr/>
          <p:nvPr/>
        </p:nvSpPr>
        <p:spPr>
          <a:xfrm>
            <a:off x="5989320" y="1417320"/>
            <a:ext cx="2743200" cy="2286000"/>
          </a:xfrm>
          <a:prstGeom prst="rect">
            <a:avLst/>
          </a:prstGeom>
          <a:solidFill>
            <a:srgbClr val="CCCCCC"/>
          </a:solidFill>
          <a:ln/>
        </p:spPr>
      </p:sp>
      <p:sp>
        <p:nvSpPr>
          <p:cNvPr id="8" name="Shape 6"/>
          <p:cNvSpPr/>
          <p:nvPr/>
        </p:nvSpPr>
        <p:spPr>
          <a:xfrm>
            <a:off x="5943600" y="1371600"/>
            <a:ext cx="2743200" cy="2286000"/>
          </a:xfrm>
          <a:prstGeom prst="rect">
            <a:avLst/>
          </a:prstGeom>
          <a:solidFill>
            <a:srgbClr val="F8F8F8"/>
          </a:solidFill>
          <a:ln w="25400">
            <a:solidFill>
              <a:srgbClr val="4472C4"/>
            </a:solidFill>
            <a:prstDash val="solid"/>
          </a:ln>
        </p:spPr>
      </p:sp>
      <p:sp>
        <p:nvSpPr>
          <p:cNvPr id="9" name="Text 7"/>
          <p:cNvSpPr/>
          <p:nvPr/>
        </p:nvSpPr>
        <p:spPr>
          <a:xfrm>
            <a:off x="5943600" y="2103120"/>
            <a:ext cx="2743200" cy="914400"/>
          </a:xfrm>
          <a:prstGeom prst="rect">
            <a:avLst/>
          </a:prstGeom>
          <a:noFill/>
          <a:ln/>
        </p:spPr>
        <p:txBody>
          <a:bodyPr wrap="square" rtlCol="0" anchor="ctr"/>
          <a:lstStyle/>
          <a:p>
            <a:pPr algn="ctr" indent="0" marL="0">
              <a:buNone/>
            </a:pPr>
            <a:r>
              <a:rPr lang="en-US" sz="1400" dirty="0">
                <a:solidFill>
                  <a:srgbClr val="999999"/>
                </a:solidFill>
                <a:latin typeface="Arial" pitchFamily="34" charset="0"/>
                <a:ea typeface="Arial" pitchFamily="34" charset="-122"/>
                <a:cs typeface="Arial" pitchFamily="34" charset="-120"/>
              </a:rPr>
              <a:t>🖼️</a:t>
            </a:r>
            <a:endParaRPr lang="en-US" sz="1400" dirty="0"/>
          </a:p>
          <a:p>
            <a:pPr algn="ctr" indent="0" marL="0">
              <a:buNone/>
            </a:pPr>
            <a:endParaRPr lang="en-US" sz="1400" dirty="0"/>
          </a:p>
          <a:p>
            <a:pPr algn="ctr" indent="0" marL="0">
              <a:buNone/>
            </a:pPr>
            <a:r>
              <a:rPr lang="en-US" sz="1400" dirty="0">
                <a:solidFill>
                  <a:srgbClr val="999999"/>
                </a:solidFill>
                <a:latin typeface="Arial" pitchFamily="34" charset="0"/>
                <a:ea typeface="Arial" pitchFamily="34" charset="-122"/>
                <a:cs typeface="Arial" pitchFamily="34" charset="-120"/>
              </a:rPr>
              <a:t>Image Placeholder</a:t>
            </a:r>
            <a:endParaRPr lang="en-US" sz="1400" dirty="0"/>
          </a:p>
        </p:txBody>
      </p:sp>
      <p:sp>
        <p:nvSpPr>
          <p:cNvPr id="10" name="Text 8"/>
          <p:cNvSpPr/>
          <p:nvPr/>
        </p:nvSpPr>
        <p:spPr>
          <a:xfrm>
            <a:off x="5943600" y="3749040"/>
            <a:ext cx="2743200" cy="274320"/>
          </a:xfrm>
          <a:prstGeom prst="rect">
            <a:avLst/>
          </a:prstGeom>
          <a:noFill/>
          <a:ln/>
        </p:spPr>
        <p:txBody>
          <a:bodyPr wrap="square" rtlCol="0" anchor="ctr"/>
          <a:lstStyle/>
          <a:p>
            <a:pPr algn="ctr" indent="0" marL="0">
              <a:buNone/>
            </a:pPr>
            <a:r>
              <a:rPr lang="en-US" sz="900" i="1" dirty="0">
                <a:solidFill>
                  <a:srgbClr val="888888"/>
                </a:solidFill>
                <a:latin typeface="Arial" pitchFamily="34" charset="0"/>
                <a:ea typeface="Arial" pitchFamily="34" charset="-122"/>
                <a:cs typeface="Arial" pitchFamily="34" charset="-120"/>
              </a:rPr>
              <a:t>Suggest: diagram showing governance framework</a:t>
            </a:r>
            <a:endParaRPr lang="en-US" sz="900" dirty="0"/>
          </a:p>
        </p:txBody>
      </p:sp>
      <p:sp>
        <p:nvSpPr>
          <p:cNvPr id="11" name="Text 9"/>
          <p:cNvSpPr/>
          <p:nvPr/>
        </p:nvSpPr>
        <p:spPr>
          <a:xfrm>
            <a:off x="457200" y="1463040"/>
            <a:ext cx="5029200" cy="1097280"/>
          </a:xfrm>
          <a:prstGeom prst="rect">
            <a:avLst/>
          </a:prstGeom>
          <a:noFill/>
          <a:ln/>
        </p:spPr>
        <p:txBody>
          <a:bodyPr wrap="square" rtlCol="0" anchor="t"/>
          <a:lstStyle/>
          <a:p>
            <a:pPr algn="l" indent="0" marL="0">
              <a:buNone/>
            </a:pPr>
            <a:r>
              <a:rPr lang="en-US" sz="1300" dirty="0">
                <a:solidFill>
                  <a:srgbClr val="333333"/>
                </a:solidFill>
                <a:latin typeface="Arial" pitchFamily="34" charset="0"/>
                <a:ea typeface="Arial" pitchFamily="34" charset="-122"/>
                <a:cs typeface="Arial" pitchFamily="34" charset="-120"/>
              </a:rPr>
              <a:t>As AI becomes increasingly pervasive, governance and trust are critical concerns. Organizations must ensure that their AI systems are transparent, explainable, and fair. This requires establishing clear guidelines and regulations for AI development and deployment, as well as fostering a culture of accountability and trust.</a:t>
            </a:r>
            <a:endParaRPr lang="en-US" sz="1300" dirty="0"/>
          </a:p>
        </p:txBody>
      </p:sp>
      <p:sp>
        <p:nvSpPr>
          <p:cNvPr id="12" name="Text 10"/>
          <p:cNvSpPr/>
          <p:nvPr/>
        </p:nvSpPr>
        <p:spPr>
          <a:xfrm>
            <a:off x="457200" y="2651760"/>
            <a:ext cx="5029200" cy="365760"/>
          </a:xfrm>
          <a:prstGeom prst="rect">
            <a:avLst/>
          </a:prstGeom>
          <a:noFill/>
          <a:ln/>
        </p:spPr>
        <p:txBody>
          <a:bodyPr wrap="square" rtlCol="0" anchor="ctr"/>
          <a:lstStyle/>
          <a:p>
            <a:pPr indent="0" marL="0">
              <a:buNone/>
            </a:pPr>
            <a:r>
              <a:rPr lang="en-US" sz="1600" b="1" dirty="0">
                <a:solidFill>
                  <a:srgbClr val="1F4E78"/>
                </a:solidFill>
                <a:latin typeface="Arial" pitchFamily="34" charset="0"/>
                <a:ea typeface="Arial" pitchFamily="34" charset="-122"/>
                <a:cs typeface="Arial" pitchFamily="34" charset="-120"/>
              </a:rPr>
              <a:t>Key Points:</a:t>
            </a:r>
            <a:endParaRPr lang="en-US" sz="1600" dirty="0"/>
          </a:p>
        </p:txBody>
      </p:sp>
      <p:sp>
        <p:nvSpPr>
          <p:cNvPr id="13" name="Text 11"/>
          <p:cNvSpPr/>
          <p:nvPr/>
        </p:nvSpPr>
        <p:spPr>
          <a:xfrm>
            <a:off x="640080" y="3108960"/>
            <a:ext cx="274320" cy="457200"/>
          </a:xfrm>
          <a:prstGeom prst="rect">
            <a:avLst/>
          </a:prstGeom>
          <a:noFill/>
          <a:ln/>
        </p:spPr>
        <p:txBody>
          <a:bodyPr wrap="square" rtlCol="0" anchor="ctr"/>
          <a:lstStyle/>
          <a:p>
            <a:pPr indent="0" marL="0">
              <a:buNone/>
            </a:pPr>
            <a:r>
              <a:rPr lang="en-US" sz="1600" b="1" dirty="0">
                <a:solidFill>
                  <a:srgbClr val="4472C4"/>
                </a:solidFill>
                <a:latin typeface="Arial" pitchFamily="34" charset="0"/>
                <a:ea typeface="Arial" pitchFamily="34" charset="-122"/>
                <a:cs typeface="Arial" pitchFamily="34" charset="-120"/>
              </a:rPr>
              <a:t>▸</a:t>
            </a:r>
            <a:endParaRPr lang="en-US" sz="1600" dirty="0"/>
          </a:p>
        </p:txBody>
      </p:sp>
      <p:sp>
        <p:nvSpPr>
          <p:cNvPr id="14" name="Text 12"/>
          <p:cNvSpPr/>
          <p:nvPr/>
        </p:nvSpPr>
        <p:spPr>
          <a:xfrm>
            <a:off x="1005840" y="3108960"/>
            <a:ext cx="4572000" cy="45720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AI transparency</a:t>
            </a:r>
            <a:endParaRPr lang="en-US" sz="1400" dirty="0"/>
          </a:p>
        </p:txBody>
      </p:sp>
      <p:sp>
        <p:nvSpPr>
          <p:cNvPr id="15" name="Text 13"/>
          <p:cNvSpPr/>
          <p:nvPr/>
        </p:nvSpPr>
        <p:spPr>
          <a:xfrm>
            <a:off x="640080" y="3657600"/>
            <a:ext cx="274320" cy="457200"/>
          </a:xfrm>
          <a:prstGeom prst="rect">
            <a:avLst/>
          </a:prstGeom>
          <a:noFill/>
          <a:ln/>
        </p:spPr>
        <p:txBody>
          <a:bodyPr wrap="square" rtlCol="0" anchor="ctr"/>
          <a:lstStyle/>
          <a:p>
            <a:pPr indent="0" marL="0">
              <a:buNone/>
            </a:pPr>
            <a:r>
              <a:rPr lang="en-US" sz="1600" b="1" dirty="0">
                <a:solidFill>
                  <a:srgbClr val="4472C4"/>
                </a:solidFill>
                <a:latin typeface="Arial" pitchFamily="34" charset="0"/>
                <a:ea typeface="Arial" pitchFamily="34" charset="-122"/>
                <a:cs typeface="Arial" pitchFamily="34" charset="-120"/>
              </a:rPr>
              <a:t>▸</a:t>
            </a:r>
            <a:endParaRPr lang="en-US" sz="1600" dirty="0"/>
          </a:p>
        </p:txBody>
      </p:sp>
      <p:sp>
        <p:nvSpPr>
          <p:cNvPr id="16" name="Text 14"/>
          <p:cNvSpPr/>
          <p:nvPr/>
        </p:nvSpPr>
        <p:spPr>
          <a:xfrm>
            <a:off x="1005840" y="3657600"/>
            <a:ext cx="4572000" cy="45720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Explainability</a:t>
            </a:r>
            <a:endParaRPr lang="en-US" sz="1400" dirty="0"/>
          </a:p>
        </p:txBody>
      </p:sp>
      <p:sp>
        <p:nvSpPr>
          <p:cNvPr id="17" name="Text 15"/>
          <p:cNvSpPr/>
          <p:nvPr/>
        </p:nvSpPr>
        <p:spPr>
          <a:xfrm>
            <a:off x="640080" y="4206240"/>
            <a:ext cx="274320" cy="457200"/>
          </a:xfrm>
          <a:prstGeom prst="rect">
            <a:avLst/>
          </a:prstGeom>
          <a:noFill/>
          <a:ln/>
        </p:spPr>
        <p:txBody>
          <a:bodyPr wrap="square" rtlCol="0" anchor="ctr"/>
          <a:lstStyle/>
          <a:p>
            <a:pPr indent="0" marL="0">
              <a:buNone/>
            </a:pPr>
            <a:r>
              <a:rPr lang="en-US" sz="1600" b="1" dirty="0">
                <a:solidFill>
                  <a:srgbClr val="4472C4"/>
                </a:solidFill>
                <a:latin typeface="Arial" pitchFamily="34" charset="0"/>
                <a:ea typeface="Arial" pitchFamily="34" charset="-122"/>
                <a:cs typeface="Arial" pitchFamily="34" charset="-120"/>
              </a:rPr>
              <a:t>▸</a:t>
            </a:r>
            <a:endParaRPr lang="en-US" sz="1600" dirty="0"/>
          </a:p>
        </p:txBody>
      </p:sp>
      <p:sp>
        <p:nvSpPr>
          <p:cNvPr id="18" name="Text 16"/>
          <p:cNvSpPr/>
          <p:nvPr/>
        </p:nvSpPr>
        <p:spPr>
          <a:xfrm>
            <a:off x="1005840" y="4206240"/>
            <a:ext cx="4572000" cy="45720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Accountability</a:t>
            </a:r>
            <a:endParaRPr lang="en-US" sz="1400" dirty="0"/>
          </a:p>
        </p:txBody>
      </p:sp>
      <p:sp>
        <p:nvSpPr>
          <p:cNvPr id="19" name="Text 17"/>
          <p:cNvSpPr/>
          <p:nvPr/>
        </p:nvSpPr>
        <p:spPr>
          <a:xfrm>
            <a:off x="457200" y="6400800"/>
            <a:ext cx="8229600" cy="365760"/>
          </a:xfrm>
          <a:prstGeom prst="rect">
            <a:avLst/>
          </a:prstGeom>
          <a:noFill/>
          <a:ln/>
        </p:spPr>
        <p:txBody>
          <a:bodyPr wrap="square" rtlCol="0" anchor="ctr"/>
          <a:lstStyle/>
          <a:p>
            <a:pPr algn="r" indent="0" marL="0">
              <a:buNone/>
            </a:pPr>
            <a:r>
              <a:rPr lang="en-US" sz="1000" dirty="0">
                <a:solidFill>
                  <a:srgbClr val="AAAAAA"/>
                </a:solidFill>
                <a:latin typeface="Arial" pitchFamily="34" charset="0"/>
                <a:ea typeface="Arial" pitchFamily="34" charset="-122"/>
                <a:cs typeface="Arial" pitchFamily="34" charset="-120"/>
              </a:rPr>
              <a:t>StylesByShahid | Slide 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2026-03-22T08:55:02Z</dcterms:created>
  <dcterms:modified xsi:type="dcterms:W3CDTF">2026-03-22T08:55:02Z</dcterms:modified>
</cp:coreProperties>
</file>